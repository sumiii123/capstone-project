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94" r:id="rId3"/>
    <p:sldId id="256" r:id="rId5"/>
    <p:sldId id="257" r:id="rId6"/>
    <p:sldId id="292" r:id="rId7"/>
    <p:sldId id="290" r:id="rId8"/>
    <p:sldId id="261" r:id="rId9"/>
    <p:sldId id="262" r:id="rId10"/>
    <p:sldId id="266" r:id="rId11"/>
    <p:sldId id="267" r:id="rId12"/>
    <p:sldId id="268" r:id="rId13"/>
    <p:sldId id="269" r:id="rId14"/>
    <p:sldId id="270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81" r:id="rId23"/>
    <p:sldId id="282" r:id="rId24"/>
    <p:sldId id="284" r:id="rId25"/>
    <p:sldId id="285" r:id="rId26"/>
    <p:sldId id="286" r:id="rId27"/>
    <p:sldId id="287" r:id="rId28"/>
    <p:sldId id="288" r:id="rId29"/>
    <p:sldId id="289" r:id="rId30"/>
  </p:sldIdLst>
  <p:sldSz cx="9144000" cy="5143500"/>
  <p:notesSz cx="5143500" cy="9144000"/>
  <p:embeddedFontLst>
    <p:embeddedFont>
      <p:font typeface="Unbounded Bold" pitchFamily="34" charset="0"/>
      <p:bold r:id="rId34"/>
    </p:embeddedFont>
    <p:embeddedFont>
      <p:font typeface="Unbounded Bold" pitchFamily="34" charset="-122"/>
      <p:bold r:id="rId35"/>
    </p:embeddedFont>
    <p:embeddedFont>
      <p:font typeface="Unbounded Bold" pitchFamily="34" charset="-120"/>
      <p:bold r:id="rId36"/>
    </p:embeddedFont>
    <p:embeddedFont>
      <p:font typeface="Open Sans" pitchFamily="34" charset="0"/>
      <p:regular r:id="rId37"/>
    </p:embeddedFont>
    <p:embeddedFont>
      <p:font typeface="Open Sans" pitchFamily="34" charset="-122"/>
      <p:regular r:id="rId38"/>
    </p:embeddedFont>
    <p:embeddedFont>
      <p:font typeface="Open Sans" pitchFamily="34" charset="-120"/>
      <p:regular r:id="rId39"/>
    </p:embeddedFont>
    <p:embeddedFont>
      <p:font typeface="Calibri" panose="020F0502020204030204" charset="0"/>
      <p:regular r:id="rId40"/>
      <p:bold r:id="rId41"/>
      <p:italic r:id="rId42"/>
      <p:boldItalic r:id="rId43"/>
    </p:embeddedFont>
    <p:embeddedFont>
      <p:font typeface="Arial Black" panose="020B0A04020102020204" charset="0"/>
      <p:bold r:id="rId44"/>
    </p:embeddedFont>
    <p:embeddedFont>
      <p:font typeface="Consolas" panose="020B0609020204030204" pitchFamily="34" charset="0"/>
      <p:regular r:id="rId45"/>
      <p:bold r:id="rId46"/>
      <p:italic r:id="rId47"/>
      <p:boldItalic r:id="rId48"/>
    </p:embeddedFont>
    <p:embeddedFont>
      <p:font typeface="Consolas" panose="020B0609020204030204" pitchFamily="34" charset="-122"/>
      <p:regular r:id="rId49"/>
      <p:bold r:id="rId50"/>
      <p:italic r:id="rId51"/>
      <p:boldItalic r:id="rId52"/>
    </p:embeddedFont>
    <p:embeddedFont>
      <p:font typeface="Consolas" panose="020B0609020204030204" pitchFamily="34" charset="-120"/>
      <p:regular r:id="rId53"/>
      <p:bold r:id="rId54"/>
      <p:italic r:id="rId55"/>
      <p:boldItalic r:id="rId5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6" Type="http://schemas.openxmlformats.org/officeDocument/2006/relationships/font" Target="fonts/font23.fntdata"/><Relationship Id="rId55" Type="http://schemas.openxmlformats.org/officeDocument/2006/relationships/font" Target="fonts/font22.fntdata"/><Relationship Id="rId54" Type="http://schemas.openxmlformats.org/officeDocument/2006/relationships/font" Target="fonts/font21.fntdata"/><Relationship Id="rId53" Type="http://schemas.openxmlformats.org/officeDocument/2006/relationships/font" Target="fonts/font20.fntdata"/><Relationship Id="rId52" Type="http://schemas.openxmlformats.org/officeDocument/2006/relationships/font" Target="fonts/font19.fntdata"/><Relationship Id="rId51" Type="http://schemas.openxmlformats.org/officeDocument/2006/relationships/font" Target="fonts/font18.fntdata"/><Relationship Id="rId50" Type="http://schemas.openxmlformats.org/officeDocument/2006/relationships/font" Target="fonts/font17.fntdata"/><Relationship Id="rId5" Type="http://schemas.openxmlformats.org/officeDocument/2006/relationships/slide" Target="slides/slide2.xml"/><Relationship Id="rId49" Type="http://schemas.openxmlformats.org/officeDocument/2006/relationships/font" Target="fonts/font16.fntdata"/><Relationship Id="rId48" Type="http://schemas.openxmlformats.org/officeDocument/2006/relationships/font" Target="fonts/font15.fntdata"/><Relationship Id="rId47" Type="http://schemas.openxmlformats.org/officeDocument/2006/relationships/font" Target="fonts/font14.fntdata"/><Relationship Id="rId46" Type="http://schemas.openxmlformats.org/officeDocument/2006/relationships/font" Target="fonts/font13.fntdata"/><Relationship Id="rId45" Type="http://schemas.openxmlformats.org/officeDocument/2006/relationships/font" Target="fonts/font12.fntdata"/><Relationship Id="rId44" Type="http://schemas.openxmlformats.org/officeDocument/2006/relationships/font" Target="fonts/font11.fntdata"/><Relationship Id="rId43" Type="http://schemas.openxmlformats.org/officeDocument/2006/relationships/font" Target="fonts/font10.fntdata"/><Relationship Id="rId42" Type="http://schemas.openxmlformats.org/officeDocument/2006/relationships/font" Target="fonts/font9.fntdata"/><Relationship Id="rId41" Type="http://schemas.openxmlformats.org/officeDocument/2006/relationships/font" Target="fonts/font8.fntdata"/><Relationship Id="rId40" Type="http://schemas.openxmlformats.org/officeDocument/2006/relationships/font" Target="fonts/font7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6.fntdata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8.svg"/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3.png"/><Relationship Id="rId2" Type="http://schemas.openxmlformats.org/officeDocument/2006/relationships/image" Target="../media/image30.png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77971"/>
            <a:ext cx="4722763" cy="17719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E-Commerce Business Intelligence &amp; Predictive Analytics Platform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53574" y="2571740"/>
            <a:ext cx="5179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Analytics Capstone Project — ShopSmart</a:t>
            </a:r>
            <a:endParaRPr lang="en-US" sz="1400" b="1" dirty="0"/>
          </a:p>
        </p:txBody>
      </p:sp>
      <p:pic>
        <p:nvPicPr>
          <p:cNvPr id="5" name="Picture 4" descr="Pictur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81660" y="3427730"/>
            <a:ext cx="4010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Prepared By: Sumi Gour</a:t>
            </a:r>
            <a:endParaRPr lang="en-US"/>
          </a:p>
          <a:p>
            <a:r>
              <a:rPr lang="en-US"/>
              <a:t>Sumbitted To: AcceleratorX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8770" y="1561465"/>
            <a:ext cx="4975860" cy="14935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Excel Sales Analysis</a:t>
            </a:r>
            <a:endParaRPr lang="en-US" sz="32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and SQL databse</a:t>
            </a:r>
            <a:endParaRPr lang="en-US" sz="32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96119" y="1841599"/>
            <a:ext cx="4722763" cy="12227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496570" y="2964815"/>
            <a:ext cx="4722495" cy="8242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comprehensive review of 5,000 sales transactions — uncovering revenue trends, top-performing regions, and best-selling products through structured Excel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4538"/>
            <a:ext cx="4156025" cy="4208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Summary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51260"/>
            <a:ext cx="8608963" cy="210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analysis transformed raw sales data into an actionable business dashboard using Excel's core analytical tools.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505248"/>
            <a:ext cx="4011885" cy="1517898"/>
          </a:xfrm>
          <a:prstGeom prst="roundRect">
            <a:avLst>
              <a:gd name="adj" fmla="val 372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496" y="1644625"/>
            <a:ext cx="403994" cy="403994"/>
          </a:xfrm>
          <a:prstGeom prst="roundRect">
            <a:avLst>
              <a:gd name="adj" fmla="val 14144835"/>
            </a:avLst>
          </a:prstGeom>
          <a:solidFill>
            <a:srgbClr val="26A688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6596" y="1755651"/>
            <a:ext cx="181794" cy="1817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496" y="2176537"/>
            <a:ext cx="2114252" cy="210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5,000 Transactions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5496" y="2463626"/>
            <a:ext cx="3733130" cy="4201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Full-year sales data cleaned, structured, and analyzed for patterns and anomalies.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51797" y="1497628"/>
            <a:ext cx="4011960" cy="1517898"/>
          </a:xfrm>
          <a:prstGeom prst="roundRect">
            <a:avLst>
              <a:gd name="adj" fmla="val 372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75299" y="1644625"/>
            <a:ext cx="403994" cy="403994"/>
          </a:xfrm>
          <a:prstGeom prst="roundRect">
            <a:avLst>
              <a:gd name="adj" fmla="val 14144835"/>
            </a:avLst>
          </a:prstGeom>
          <a:solidFill>
            <a:srgbClr val="26A688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6399" y="1755651"/>
            <a:ext cx="181794" cy="1817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5299" y="2176537"/>
            <a:ext cx="2519586" cy="210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Formulas &amp; Pivot Tables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775299" y="2463626"/>
            <a:ext cx="3733205" cy="4201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Excel functions used to aggregate, filter, and summarize transactional data.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6119" y="3151063"/>
            <a:ext cx="4011885" cy="1517898"/>
          </a:xfrm>
          <a:prstGeom prst="roundRect">
            <a:avLst>
              <a:gd name="adj" fmla="val 372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496" y="3290441"/>
            <a:ext cx="403994" cy="403994"/>
          </a:xfrm>
          <a:prstGeom prst="roundRect">
            <a:avLst>
              <a:gd name="adj" fmla="val 14144835"/>
            </a:avLst>
          </a:prstGeom>
          <a:solidFill>
            <a:srgbClr val="26A688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596" y="3401467"/>
            <a:ext cx="181794" cy="1817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496" y="3822353"/>
            <a:ext cx="2399258" cy="210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Interactive Dashboard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496" y="4109442"/>
            <a:ext cx="3733130" cy="4201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charts and KPI cards built for at-a-glance performance monitoring.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35922" y="3151063"/>
            <a:ext cx="4011960" cy="1517898"/>
          </a:xfrm>
          <a:prstGeom prst="roundRect">
            <a:avLst>
              <a:gd name="adj" fmla="val 372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75299" y="3290441"/>
            <a:ext cx="403994" cy="403994"/>
          </a:xfrm>
          <a:prstGeom prst="roundRect">
            <a:avLst>
              <a:gd name="adj" fmla="val 14144835"/>
            </a:avLst>
          </a:prstGeom>
          <a:solidFill>
            <a:srgbClr val="26A688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6399" y="3401467"/>
            <a:ext cx="181794" cy="1817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75299" y="3822353"/>
            <a:ext cx="2933998" cy="2103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&amp; Product Analysis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775299" y="4109442"/>
            <a:ext cx="3733205" cy="4201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Deep-dive into revenue drivers, regional performance, and product-level trends.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0533"/>
            <a:ext cx="3115270" cy="3322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Insights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827484" y="1115392"/>
            <a:ext cx="1988046" cy="35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₹69.17L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1156990" y="1579141"/>
            <a:ext cx="1329035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1793007"/>
            <a:ext cx="2650778" cy="2976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across all regions and product lines for the year.</a:t>
            </a:r>
            <a:endParaRPr lang="en-US" sz="9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77903" y="1115392"/>
            <a:ext cx="1988121" cy="35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#1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3907408" y="1579141"/>
            <a:ext cx="1329035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West Region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537" y="1793007"/>
            <a:ext cx="2650852" cy="2976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Highest-revenue region, outperforming all others in total sales volume.</a:t>
            </a:r>
            <a:endParaRPr lang="en-US" sz="9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28395" y="1115392"/>
            <a:ext cx="1988121" cy="35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Dec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6657901" y="1579141"/>
            <a:ext cx="1329035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Peak Month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97029" y="1793007"/>
            <a:ext cx="2650852" cy="2976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December recorded the highest monthly sales, driven by year-end demand.</a:t>
            </a:r>
            <a:endParaRPr lang="en-US" sz="9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70001"/>
            <a:ext cx="3905845" cy="221329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68082" y="2307654"/>
            <a:ext cx="707827" cy="182761"/>
          </a:xfrm>
          <a:prstGeom prst="roundRect">
            <a:avLst>
              <a:gd name="adj" fmla="val 19548"/>
            </a:avLst>
          </a:prstGeom>
          <a:solidFill>
            <a:srgbClr val="D6F5EE"/>
          </a:solidFill>
        </p:spPr>
      </p:sp>
      <p:sp>
        <p:nvSpPr>
          <p:cNvPr id="14" name="Text 11"/>
          <p:cNvSpPr/>
          <p:nvPr/>
        </p:nvSpPr>
        <p:spPr>
          <a:xfrm>
            <a:off x="6031855" y="2339504"/>
            <a:ext cx="1037481" cy="1190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PRODUCT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68082" y="2522265"/>
            <a:ext cx="2684487" cy="332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HP Laptop 9 — Best-Selling Product</a:t>
            </a:r>
            <a:endParaRPr lang="en-US" sz="12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68082" y="2934146"/>
            <a:ext cx="2684487" cy="4464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HP Laptop 9 led all product categories in units sold, reflecting strong market demand and effective positioning.</a:t>
            </a:r>
            <a:endParaRPr lang="en-US" sz="9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968082" y="3470300"/>
            <a:ext cx="2684487" cy="975271"/>
          </a:xfrm>
          <a:prstGeom prst="roundRect">
            <a:avLst>
              <a:gd name="adj" fmla="val 4579"/>
            </a:avLst>
          </a:prstGeom>
          <a:solidFill>
            <a:srgbClr val="B6D6FC"/>
          </a:solidFill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346" y="3624411"/>
            <a:ext cx="132904" cy="10626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13512" y="3576563"/>
            <a:ext cx="2232794" cy="7441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grew steadily throughout the year, with top products and regions driving overall business growth. The dashboard is designed to support ongoing data-driven decision-making.</a:t>
            </a:r>
            <a:endParaRPr lang="en-US" sz="900" b="1" dirty="0">
              <a:solidFill>
                <a:srgbClr val="00000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2068"/>
            <a:ext cx="589627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 &amp; Next Steps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09415"/>
            <a:ext cx="297209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the Data Tells Us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1897410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890340"/>
            <a:ext cx="3442246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showed consistent upward momentum across the year, with a strong finish in December.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2861370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2854300"/>
            <a:ext cx="3442246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West region and HP Laptop 9 were the primary growth engines for total revenue.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3598515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6816" y="3591446"/>
            <a:ext cx="3442246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dashboard provides a scalable framework for ongoing performance monitoring and reporting.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647605" y="1367656"/>
            <a:ext cx="4107135" cy="3063701"/>
          </a:xfrm>
          <a:prstGeom prst="roundRect">
            <a:avLst>
              <a:gd name="adj" fmla="val 3332"/>
            </a:avLst>
          </a:prstGeom>
          <a:solidFill>
            <a:srgbClr val="95CCDA"/>
          </a:solidFill>
        </p:spPr>
      </p:sp>
      <p:sp>
        <p:nvSpPr>
          <p:cNvPr id="11" name="Text 6"/>
          <p:cNvSpPr/>
          <p:nvPr/>
        </p:nvSpPr>
        <p:spPr>
          <a:xfrm>
            <a:off x="4789363" y="1509415"/>
            <a:ext cx="340109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Recommended Next Steps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789363" y="1872630"/>
            <a:ext cx="3823618" cy="19631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Drill into West region data to replicate success in underperforming regions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Investigate December demand drivers to inform future seasonal planning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the dashboard to include real-time data refresh capabilities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Conduct product margin analysis alongside revenue to assess profitability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4532"/>
            <a:ext cx="5764709" cy="414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SQL Analytics -key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88379" y="1086743"/>
            <a:ext cx="8624441" cy="2052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 analytical query types were executed to extract actionable insights from the database.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88379" y="1431429"/>
            <a:ext cx="2639764" cy="1581745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667" y="1445716"/>
            <a:ext cx="2611189" cy="397669"/>
          </a:xfrm>
          <a:prstGeom prst="roundRect">
            <a:avLst>
              <a:gd name="adj" fmla="val 9691"/>
            </a:avLst>
          </a:prstGeom>
          <a:solidFill>
            <a:srgbClr val="D6F5EE"/>
          </a:solidFill>
        </p:spPr>
      </p:sp>
      <p:sp>
        <p:nvSpPr>
          <p:cNvPr id="6" name="Text 4"/>
          <p:cNvSpPr/>
          <p:nvPr/>
        </p:nvSpPr>
        <p:spPr>
          <a:xfrm>
            <a:off x="635198" y="1967359"/>
            <a:ext cx="2229445" cy="2070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Aggregation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198" y="2248793"/>
            <a:ext cx="2346127" cy="6157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 and AVG functions to calculate total revenue and average order value.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52118" y="1431429"/>
            <a:ext cx="2639764" cy="1581745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6405" y="1445716"/>
            <a:ext cx="2611189" cy="397669"/>
          </a:xfrm>
          <a:prstGeom prst="roundRect">
            <a:avLst>
              <a:gd name="adj" fmla="val 9691"/>
            </a:avLst>
          </a:prstGeom>
          <a:solidFill>
            <a:srgbClr val="D6F5EE"/>
          </a:solidFill>
        </p:spPr>
      </p:sp>
      <p:sp>
        <p:nvSpPr>
          <p:cNvPr id="10" name="Text 8"/>
          <p:cNvSpPr/>
          <p:nvPr/>
        </p:nvSpPr>
        <p:spPr>
          <a:xfrm>
            <a:off x="3398937" y="1967359"/>
            <a:ext cx="2346127" cy="414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Monthly Revenue Breakdown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98937" y="2455887"/>
            <a:ext cx="2346127" cy="4104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BY analysis tracking revenue trends across months.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15856" y="1431429"/>
            <a:ext cx="2639764" cy="1581745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0144" y="1445716"/>
            <a:ext cx="2611189" cy="397669"/>
          </a:xfrm>
          <a:prstGeom prst="roundRect">
            <a:avLst>
              <a:gd name="adj" fmla="val 9691"/>
            </a:avLst>
          </a:prstGeom>
          <a:solidFill>
            <a:srgbClr val="D6F5EE"/>
          </a:solidFill>
        </p:spPr>
      </p:sp>
      <p:sp>
        <p:nvSpPr>
          <p:cNvPr id="14" name="Text 12"/>
          <p:cNvSpPr/>
          <p:nvPr/>
        </p:nvSpPr>
        <p:spPr>
          <a:xfrm>
            <a:off x="6162675" y="1967359"/>
            <a:ext cx="2105025" cy="2070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Product-Order Joins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62675" y="2248793"/>
            <a:ext cx="2346127" cy="4104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INNER JOIN queries linking product and order tables.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8379" y="3137148"/>
            <a:ext cx="2639764" cy="1581745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667" y="3151436"/>
            <a:ext cx="2611189" cy="397669"/>
          </a:xfrm>
          <a:prstGeom prst="roundRect">
            <a:avLst>
              <a:gd name="adj" fmla="val 9691"/>
            </a:avLst>
          </a:prstGeom>
          <a:solidFill>
            <a:srgbClr val="D6F5EE"/>
          </a:solidFill>
        </p:spPr>
      </p:sp>
      <p:sp>
        <p:nvSpPr>
          <p:cNvPr id="18" name="Text 16"/>
          <p:cNvSpPr/>
          <p:nvPr/>
        </p:nvSpPr>
        <p:spPr>
          <a:xfrm>
            <a:off x="635198" y="3673078"/>
            <a:ext cx="2346127" cy="414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198" y="4161606"/>
            <a:ext cx="2346127" cy="4104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CASE statements classifying buyers as low, medium, or high-value.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52118" y="3137148"/>
            <a:ext cx="2639764" cy="1581745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66405" y="3151436"/>
            <a:ext cx="2611189" cy="397669"/>
          </a:xfrm>
          <a:prstGeom prst="roundRect">
            <a:avLst>
              <a:gd name="adj" fmla="val 9691"/>
            </a:avLst>
          </a:prstGeom>
          <a:solidFill>
            <a:srgbClr val="D6F5EE"/>
          </a:solidFill>
        </p:spPr>
      </p:sp>
      <p:sp>
        <p:nvSpPr>
          <p:cNvPr id="22" name="Text 20"/>
          <p:cNvSpPr/>
          <p:nvPr/>
        </p:nvSpPr>
        <p:spPr>
          <a:xfrm>
            <a:off x="3398937" y="3673078"/>
            <a:ext cx="1928515" cy="2070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Ranking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98937" y="3954512"/>
            <a:ext cx="2346127" cy="4104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ROW_NUMBER() to rank customers by spend and identify top performers.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15856" y="3137148"/>
            <a:ext cx="2639764" cy="1581745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0144" y="3151436"/>
            <a:ext cx="2611189" cy="397669"/>
          </a:xfrm>
          <a:prstGeom prst="roundRect">
            <a:avLst>
              <a:gd name="adj" fmla="val 9691"/>
            </a:avLst>
          </a:prstGeom>
          <a:solidFill>
            <a:srgbClr val="D6F5EE"/>
          </a:solidFill>
        </p:spPr>
      </p:sp>
      <p:sp>
        <p:nvSpPr>
          <p:cNvPr id="26" name="Text 24"/>
          <p:cNvSpPr/>
          <p:nvPr/>
        </p:nvSpPr>
        <p:spPr>
          <a:xfrm>
            <a:off x="6162675" y="3673078"/>
            <a:ext cx="1657127" cy="2070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Subqueries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62675" y="3954512"/>
            <a:ext cx="2346127" cy="4104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Nested queries isolating best-performing customers and products.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4630"/>
            <a:ext cx="4804693" cy="3987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Business Insights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96292" y="1186755"/>
            <a:ext cx="3603724" cy="280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$7.06M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00733" y="1617315"/>
            <a:ext cx="1594842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1885429"/>
            <a:ext cx="4004146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across all orders in the dataset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43909" y="1186755"/>
            <a:ext cx="3603724" cy="280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$1,413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828854" y="1617315"/>
            <a:ext cx="1633835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Avg. Order Value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43735" y="1885429"/>
            <a:ext cx="4004146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transaction across all customers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6292" y="2372767"/>
            <a:ext cx="3603724" cy="421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127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700733" y="2943671"/>
            <a:ext cx="1594842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 Product ID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119" y="3211785"/>
            <a:ext cx="4004146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Highest-selling product by volume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3909" y="2372767"/>
            <a:ext cx="3603724" cy="280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$29.8K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03379" y="2803327"/>
            <a:ext cx="2084784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 Customer Spend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3735" y="3071440"/>
            <a:ext cx="4004146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#3858 — highest individual spend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4292" y="3534891"/>
            <a:ext cx="4103936" cy="1113979"/>
          </a:xfrm>
          <a:prstGeom prst="roundRect">
            <a:avLst>
              <a:gd name="adj" fmla="val 8247"/>
            </a:avLst>
          </a:prstGeom>
          <a:solidFill>
            <a:srgbClr val="95CCDA"/>
          </a:solidFill>
        </p:spPr>
      </p:sp>
      <p:sp>
        <p:nvSpPr>
          <p:cNvPr id="16" name="Text 14"/>
          <p:cNvSpPr/>
          <p:nvPr/>
        </p:nvSpPr>
        <p:spPr>
          <a:xfrm>
            <a:off x="531837" y="3649712"/>
            <a:ext cx="2052042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Timing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1837" y="3963814"/>
            <a:ext cx="3848844" cy="3878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 12 recorded the highest monthly revenue — a critical window for promotions and inventory planning.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40535" y="3534891"/>
            <a:ext cx="4103936" cy="1113979"/>
          </a:xfrm>
          <a:prstGeom prst="roundRect">
            <a:avLst>
              <a:gd name="adj" fmla="val 8247"/>
            </a:avLst>
          </a:prstGeom>
          <a:solidFill>
            <a:srgbClr val="D8AFF8"/>
          </a:solidFill>
        </p:spPr>
      </p:sp>
      <p:sp>
        <p:nvSpPr>
          <p:cNvPr id="19" name="Text 17"/>
          <p:cNvSpPr/>
          <p:nvPr/>
        </p:nvSpPr>
        <p:spPr>
          <a:xfrm>
            <a:off x="4768081" y="3649712"/>
            <a:ext cx="2399333" cy="199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Behavior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68081" y="3963814"/>
            <a:ext cx="3848844" cy="5817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Segmentation revealed three distinct buyer tiers. Frequent buyers demonstrate stronger purchase consistency, signaling loyalty program potential.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17650" y="1144270"/>
            <a:ext cx="6291580" cy="7391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Statistical Analysis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618615" y="2231390"/>
            <a:ext cx="6089650" cy="17024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data-driven exploration of e-commerce performance — uncovering customer behavior patterns, revenue drivers, and actionable business insights through rigorous statistical methods.</a:t>
            </a:r>
            <a:endParaRPr lang="en-US" sz="200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8971"/>
            <a:ext cx="3678882" cy="3765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Overview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229097"/>
            <a:ext cx="8151763" cy="356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applied a full suite of statistical techniques to real e-commerce transaction data, translating raw numbers into strategic recommendations.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700882"/>
            <a:ext cx="4024685" cy="1320626"/>
          </a:xfrm>
          <a:prstGeom prst="roundRect">
            <a:avLst>
              <a:gd name="adj" fmla="val 383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357" y="1826121"/>
            <a:ext cx="361504" cy="361504"/>
          </a:xfrm>
          <a:prstGeom prst="roundRect">
            <a:avLst>
              <a:gd name="adj" fmla="val 15807373"/>
            </a:avLst>
          </a:prstGeom>
          <a:solidFill>
            <a:srgbClr val="26A688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775" y="1925538"/>
            <a:ext cx="162669" cy="1626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357" y="2290018"/>
            <a:ext cx="1569690" cy="1882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Tools &amp; Methods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1357" y="2539678"/>
            <a:ext cx="3774207" cy="356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Excel-based analysis with regression models, hypothesis testing, and A/B testing frameworks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23197" y="1700882"/>
            <a:ext cx="4024685" cy="1320626"/>
          </a:xfrm>
          <a:prstGeom prst="roundRect">
            <a:avLst>
              <a:gd name="adj" fmla="val 383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8436" y="1826121"/>
            <a:ext cx="361504" cy="361504"/>
          </a:xfrm>
          <a:prstGeom prst="roundRect">
            <a:avLst>
              <a:gd name="adj" fmla="val 15807373"/>
            </a:avLst>
          </a:prstGeom>
          <a:solidFill>
            <a:srgbClr val="26A688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7853" y="1925538"/>
            <a:ext cx="162669" cy="1626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48436" y="2290018"/>
            <a:ext cx="1834232" cy="1882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Behavior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748436" y="2539678"/>
            <a:ext cx="3774207" cy="356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Spending patterns, segmentation, and behavioral differences across customer cohorts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96119" y="3123902"/>
            <a:ext cx="4024685" cy="1320626"/>
          </a:xfrm>
          <a:prstGeom prst="roundRect">
            <a:avLst>
              <a:gd name="adj" fmla="val 383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357" y="3249141"/>
            <a:ext cx="361504" cy="361504"/>
          </a:xfrm>
          <a:prstGeom prst="roundRect">
            <a:avLst>
              <a:gd name="adj" fmla="val 15807373"/>
            </a:avLst>
          </a:prstGeom>
          <a:solidFill>
            <a:srgbClr val="26A688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775" y="3348558"/>
            <a:ext cx="162669" cy="1626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357" y="3713038"/>
            <a:ext cx="1526828" cy="1882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&amp; Sales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1357" y="3962698"/>
            <a:ext cx="3774207" cy="356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trend analysis, order value distribution, and performance benchmarking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623197" y="3123902"/>
            <a:ext cx="4024685" cy="1320626"/>
          </a:xfrm>
          <a:prstGeom prst="roundRect">
            <a:avLst>
              <a:gd name="adj" fmla="val 383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48436" y="3249141"/>
            <a:ext cx="361504" cy="361504"/>
          </a:xfrm>
          <a:prstGeom prst="roundRect">
            <a:avLst>
              <a:gd name="adj" fmla="val 15807373"/>
            </a:avLst>
          </a:prstGeom>
          <a:solidFill>
            <a:srgbClr val="26A688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7853" y="3348558"/>
            <a:ext cx="162669" cy="1626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48436" y="3713038"/>
            <a:ext cx="2350219" cy="1882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Correlation &amp; Regression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748436" y="3962698"/>
            <a:ext cx="3774207" cy="356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Linear regression and correlation analysis to quantify key business relationships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022" y="194890"/>
            <a:ext cx="370537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&amp; Revenue Insights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757" y="904245"/>
            <a:ext cx="4301803" cy="1871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5,000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91285" y="1149350"/>
            <a:ext cx="1584960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Transactions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8285" y="1418590"/>
            <a:ext cx="4301490" cy="6032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dataset analyzed across the study period</a:t>
            </a:r>
            <a:endParaRPr lang="en-US" sz="1400" b="1" dirty="0"/>
          </a:p>
        </p:txBody>
      </p:sp>
      <p:sp>
        <p:nvSpPr>
          <p:cNvPr id="6" name="Text 4"/>
          <p:cNvSpPr/>
          <p:nvPr/>
        </p:nvSpPr>
        <p:spPr>
          <a:xfrm>
            <a:off x="153035" y="2228850"/>
            <a:ext cx="4302125" cy="2406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$2,725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79550" y="2571750"/>
            <a:ext cx="1649730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Mean Order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6545" y="2851150"/>
            <a:ext cx="4302125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spend per transaction ($2,725.01)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782185" y="1863090"/>
            <a:ext cx="2754630" cy="357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Spending Patterns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663440" y="2240915"/>
            <a:ext cx="4237355" cy="1370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spending varies significantly across transactions, indicating diverse purchasing behaviors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High-value customers contribute a major share of total revenue, highlighting the importance of retention strategies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revenue trends show growth during peak periods, suggesting seasonal demand patterns</a:t>
            </a:r>
            <a:endParaRPr lang="en-US" sz="120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504453"/>
            <a:ext cx="6984429" cy="343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Hypothesis Testing &amp; A/B Test Results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80640" y="1060549"/>
            <a:ext cx="2519288" cy="171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Email Campaign Impact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0640" y="1317352"/>
            <a:ext cx="4414540" cy="1558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t-test compared spending between email subscribers and non-subscribers.</a:t>
            </a:r>
            <a:endParaRPr lang="en-US" sz="900" b="1" dirty="0"/>
          </a:p>
        </p:txBody>
      </p:sp>
      <p:sp>
        <p:nvSpPr>
          <p:cNvPr id="5" name="Shape 3"/>
          <p:cNvSpPr/>
          <p:nvPr/>
        </p:nvSpPr>
        <p:spPr>
          <a:xfrm>
            <a:off x="480695" y="1572895"/>
            <a:ext cx="3957320" cy="833120"/>
          </a:xfrm>
          <a:prstGeom prst="roundRect">
            <a:avLst>
              <a:gd name="adj" fmla="val 6483"/>
            </a:avLst>
          </a:prstGeom>
          <a:solidFill>
            <a:srgbClr val="B6D6F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476" y="1729234"/>
            <a:ext cx="137294" cy="1098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7605" y="1696214"/>
            <a:ext cx="3490540" cy="4676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P-value = 0.8127 — No statistically significant difference in spending between email and non-email users. Email status alone does not predict purchase value.</a:t>
            </a:r>
            <a:endParaRPr lang="en-US" sz="900" b="1" dirty="0">
              <a:solidFill>
                <a:srgbClr val="00000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86347" y="1146274"/>
            <a:ext cx="2046536" cy="171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Checkout A/B Test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11065" y="1445895"/>
            <a:ext cx="3957320" cy="393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redesigned checkout flow was tested against the original. The variant showed a strong, significant lift in conversions.</a:t>
            </a:r>
            <a:endParaRPr lang="en-US" sz="9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824038" y="3232175"/>
            <a:ext cx="1351285" cy="1831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15.92%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30" y="2499792"/>
            <a:ext cx="1647974" cy="16479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13024" y="4260354"/>
            <a:ext cx="1373312" cy="171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Control Rate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0640" y="4483075"/>
            <a:ext cx="4038154" cy="1558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 checkout design conversion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968603" y="3232175"/>
            <a:ext cx="1351285" cy="1831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26.73%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296" y="2499792"/>
            <a:ext cx="1647974" cy="16479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57590" y="4260354"/>
            <a:ext cx="1373312" cy="171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Variant Rate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625206" y="4483075"/>
            <a:ext cx="4038154" cy="1558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checkout design conversion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2091"/>
            <a:ext cx="7931721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Regression Analysis &amp; Conclusion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07679"/>
            <a:ext cx="2622724" cy="1983656"/>
          </a:xfrm>
          <a:prstGeom prst="roundRect">
            <a:avLst>
              <a:gd name="adj" fmla="val 4610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1907679"/>
            <a:ext cx="76200" cy="1983656"/>
          </a:xfrm>
          <a:prstGeom prst="roundRect">
            <a:avLst>
              <a:gd name="adj" fmla="val 78140"/>
            </a:avLst>
          </a:prstGeom>
          <a:solidFill>
            <a:srgbClr val="26A688"/>
          </a:solidFill>
        </p:spPr>
      </p:sp>
      <p:sp>
        <p:nvSpPr>
          <p:cNvPr id="5" name="Text 3"/>
          <p:cNvSpPr/>
          <p:nvPr/>
        </p:nvSpPr>
        <p:spPr>
          <a:xfrm>
            <a:off x="714077" y="2068488"/>
            <a:ext cx="2243956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Price vs. Sales Correlation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4077" y="2596455"/>
            <a:ext cx="2243956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Correlation coefficient of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0.0122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reveals a near-zero relationship between price and sales quantity — pricing alone does not drive volume in this dataset.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1907679"/>
            <a:ext cx="2622724" cy="1983656"/>
          </a:xfrm>
          <a:prstGeom prst="roundRect">
            <a:avLst>
              <a:gd name="adj" fmla="val 4610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1551" y="1907679"/>
            <a:ext cx="76200" cy="1983656"/>
          </a:xfrm>
          <a:prstGeom prst="roundRect">
            <a:avLst>
              <a:gd name="adj" fmla="val 78140"/>
            </a:avLst>
          </a:prstGeom>
          <a:solidFill>
            <a:srgbClr val="26A688"/>
          </a:solidFill>
        </p:spPr>
      </p:sp>
      <p:sp>
        <p:nvSpPr>
          <p:cNvPr id="9" name="Text 7"/>
          <p:cNvSpPr/>
          <p:nvPr/>
        </p:nvSpPr>
        <p:spPr>
          <a:xfrm>
            <a:off x="3478560" y="2068488"/>
            <a:ext cx="2243956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Linear Regression: Revenue Driver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8560" y="2596455"/>
            <a:ext cx="2243956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R² of 0.97958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indicates that 97.96% of revenue variance is explained by order volume — a powerful, reliable predictor for forecasting.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907679"/>
            <a:ext cx="2622724" cy="1983656"/>
          </a:xfrm>
          <a:prstGeom prst="roundRect">
            <a:avLst>
              <a:gd name="adj" fmla="val 4610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06033" y="1907679"/>
            <a:ext cx="76200" cy="1983656"/>
          </a:xfrm>
          <a:prstGeom prst="roundRect">
            <a:avLst>
              <a:gd name="adj" fmla="val 78140"/>
            </a:avLst>
          </a:prstGeom>
          <a:solidFill>
            <a:srgbClr val="26A688"/>
          </a:solidFill>
        </p:spPr>
      </p:sp>
      <p:sp>
        <p:nvSpPr>
          <p:cNvPr id="13" name="Text 11"/>
          <p:cNvSpPr/>
          <p:nvPr/>
        </p:nvSpPr>
        <p:spPr>
          <a:xfrm>
            <a:off x="6243042" y="2068488"/>
            <a:ext cx="220905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Business Takeaway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43042" y="2374999"/>
            <a:ext cx="2243956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Statistical analysis confirms that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decisions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not assumptions — should guide pricing, UX, and marketing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5935" y="466725"/>
            <a:ext cx="7592695" cy="885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Python Analysis</a:t>
            </a: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&amp; Visualization Project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5935" y="1565275"/>
            <a:ext cx="7592060" cy="18294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Analytics, EDA &amp; Churn Prediction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741229" y="3479711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end-to-end data science workflow exploring customer behavior, revenue patterns, and predictive churn modeling.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2363"/>
            <a:ext cx="3517702" cy="3322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Objectives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44091"/>
            <a:ext cx="8608963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core deliverables guided this project from raw data to actionable business intelligence.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182588"/>
            <a:ext cx="8151763" cy="6379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0406" y="1196876"/>
            <a:ext cx="425276" cy="609377"/>
          </a:xfrm>
          <a:prstGeom prst="roundRect">
            <a:avLst>
              <a:gd name="adj" fmla="val 6469"/>
            </a:avLst>
          </a:prstGeom>
          <a:solidFill>
            <a:srgbClr val="D6F5EE"/>
          </a:solidFill>
        </p:spPr>
      </p:sp>
      <p:sp>
        <p:nvSpPr>
          <p:cNvPr id="6" name="Text 4"/>
          <p:cNvSpPr/>
          <p:nvPr/>
        </p:nvSpPr>
        <p:spPr>
          <a:xfrm>
            <a:off x="640928" y="1401887"/>
            <a:ext cx="159469" cy="19935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15380" y="1303139"/>
            <a:ext cx="2049735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Loading &amp; Cleaning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15380" y="1517005"/>
            <a:ext cx="7511951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 and preprocess datasets using Pandas, handling missing values and data types.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6119" y="1900237"/>
            <a:ext cx="8151763" cy="6379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406" y="1914525"/>
            <a:ext cx="425276" cy="609377"/>
          </a:xfrm>
          <a:prstGeom prst="roundRect">
            <a:avLst>
              <a:gd name="adj" fmla="val 6469"/>
            </a:avLst>
          </a:prstGeom>
          <a:solidFill>
            <a:srgbClr val="D6F5EE"/>
          </a:solidFill>
        </p:spPr>
      </p:sp>
      <p:sp>
        <p:nvSpPr>
          <p:cNvPr id="11" name="Text 9"/>
          <p:cNvSpPr/>
          <p:nvPr/>
        </p:nvSpPr>
        <p:spPr>
          <a:xfrm>
            <a:off x="640928" y="2119536"/>
            <a:ext cx="159469" cy="19935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15380" y="2020788"/>
            <a:ext cx="1680344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15380" y="2234654"/>
            <a:ext cx="7511951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RFM metrics — Recency, Frequency, and Monetary value — to segment customers.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6119" y="2617887"/>
            <a:ext cx="8151763" cy="6379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0406" y="2632174"/>
            <a:ext cx="425276" cy="609377"/>
          </a:xfrm>
          <a:prstGeom prst="roundRect">
            <a:avLst>
              <a:gd name="adj" fmla="val 6469"/>
            </a:avLst>
          </a:prstGeom>
          <a:solidFill>
            <a:srgbClr val="D6F5EE"/>
          </a:solidFill>
        </p:spPr>
      </p:sp>
      <p:sp>
        <p:nvSpPr>
          <p:cNvPr id="16" name="Text 14"/>
          <p:cNvSpPr/>
          <p:nvPr/>
        </p:nvSpPr>
        <p:spPr>
          <a:xfrm>
            <a:off x="640928" y="2837185"/>
            <a:ext cx="159469" cy="19935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15380" y="2738438"/>
            <a:ext cx="1984400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Business Visualizations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5380" y="2952304"/>
            <a:ext cx="7511951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charts and dashboards that translate data into clear business narratives.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6119" y="3335536"/>
            <a:ext cx="8151763" cy="6379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0406" y="3349823"/>
            <a:ext cx="425276" cy="609377"/>
          </a:xfrm>
          <a:prstGeom prst="roundRect">
            <a:avLst>
              <a:gd name="adj" fmla="val 6469"/>
            </a:avLst>
          </a:prstGeom>
          <a:solidFill>
            <a:srgbClr val="D6F5EE"/>
          </a:solidFill>
        </p:spPr>
      </p:sp>
      <p:sp>
        <p:nvSpPr>
          <p:cNvPr id="21" name="Text 19"/>
          <p:cNvSpPr/>
          <p:nvPr/>
        </p:nvSpPr>
        <p:spPr>
          <a:xfrm>
            <a:off x="640928" y="3554834"/>
            <a:ext cx="159469" cy="19935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15380" y="3456087"/>
            <a:ext cx="2197298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Exploratory Data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5380" y="3669953"/>
            <a:ext cx="7511951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 patterns, anomalies, and relationships across transactional data.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6119" y="4053185"/>
            <a:ext cx="8151763" cy="6379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0406" y="4067473"/>
            <a:ext cx="425276" cy="609377"/>
          </a:xfrm>
          <a:prstGeom prst="roundRect">
            <a:avLst>
              <a:gd name="adj" fmla="val 6469"/>
            </a:avLst>
          </a:prstGeom>
          <a:solidFill>
            <a:srgbClr val="D6F5EE"/>
          </a:solidFill>
        </p:spPr>
      </p:sp>
      <p:sp>
        <p:nvSpPr>
          <p:cNvPr id="26" name="Text 24"/>
          <p:cNvSpPr/>
          <p:nvPr/>
        </p:nvSpPr>
        <p:spPr>
          <a:xfrm>
            <a:off x="640928" y="4272483"/>
            <a:ext cx="159469" cy="19935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15380" y="4173736"/>
            <a:ext cx="1952625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Churn Prediction Model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5380" y="4387602"/>
            <a:ext cx="7511951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and evaluate a machine learning model to identify at-risk customers.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6044"/>
            <a:ext cx="3288357" cy="3322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Insights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453390" y="1148080"/>
            <a:ext cx="2266950" cy="166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Findings</a:t>
            </a:r>
            <a:endParaRPr lang="en-US" sz="1200" b="1" dirty="0">
              <a:solidFill>
                <a:srgbClr val="C0000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3390" y="1403985"/>
            <a:ext cx="6281420" cy="933450"/>
          </a:xfrm>
          <a:prstGeom prst="roundRect">
            <a:avLst>
              <a:gd name="adj" fmla="val 7348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8785" y="1403985"/>
            <a:ext cx="95885" cy="933450"/>
          </a:xfrm>
          <a:prstGeom prst="roundRect">
            <a:avLst>
              <a:gd name="adj" fmla="val 78140"/>
            </a:avLst>
          </a:prstGeom>
          <a:solidFill>
            <a:srgbClr val="26A688"/>
          </a:solidFill>
        </p:spPr>
      </p:sp>
      <p:sp>
        <p:nvSpPr>
          <p:cNvPr id="7" name="Text 4"/>
          <p:cNvSpPr/>
          <p:nvPr/>
        </p:nvSpPr>
        <p:spPr>
          <a:xfrm>
            <a:off x="616585" y="1524635"/>
            <a:ext cx="1687195" cy="166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Year-End Surge</a:t>
            </a:r>
            <a:endParaRPr lang="en-US" sz="12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6585" y="1770380"/>
            <a:ext cx="5728970" cy="4464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climbed strongly toward the end of the year, consistent with seasonal purchasing behavior.</a:t>
            </a:r>
            <a:endParaRPr lang="en-US" sz="12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3390" y="2416810"/>
            <a:ext cx="6256020" cy="933450"/>
          </a:xfrm>
          <a:prstGeom prst="roundRect">
            <a:avLst>
              <a:gd name="adj" fmla="val 7348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785" y="2416810"/>
            <a:ext cx="95885" cy="933450"/>
          </a:xfrm>
          <a:prstGeom prst="roundRect">
            <a:avLst>
              <a:gd name="adj" fmla="val 78140"/>
            </a:avLst>
          </a:prstGeom>
          <a:solidFill>
            <a:srgbClr val="26A688"/>
          </a:solidFill>
        </p:spPr>
      </p:sp>
      <p:sp>
        <p:nvSpPr>
          <p:cNvPr id="11" name="Text 8"/>
          <p:cNvSpPr/>
          <p:nvPr/>
        </p:nvSpPr>
        <p:spPr>
          <a:xfrm>
            <a:off x="616585" y="2537460"/>
            <a:ext cx="2835910" cy="166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Gold Customer Dominance</a:t>
            </a:r>
            <a:endParaRPr lang="en-US" sz="12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16585" y="2783205"/>
            <a:ext cx="5733415" cy="4464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Gold-tier customers contributed the highest total spending, validating loyalty segmentation strategy.</a:t>
            </a:r>
            <a:endParaRPr lang="en-US" sz="12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38785" y="3429635"/>
            <a:ext cx="6275705" cy="1248410"/>
          </a:xfrm>
          <a:prstGeom prst="roundRect">
            <a:avLst>
              <a:gd name="adj" fmla="val 5494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785" y="3430270"/>
            <a:ext cx="95885" cy="1248410"/>
          </a:xfrm>
          <a:prstGeom prst="roundRect">
            <a:avLst>
              <a:gd name="adj" fmla="val 78140"/>
            </a:avLst>
          </a:prstGeom>
          <a:solidFill>
            <a:srgbClr val="26A688"/>
          </a:solidFill>
        </p:spPr>
      </p:sp>
      <p:sp>
        <p:nvSpPr>
          <p:cNvPr id="15" name="Text 12"/>
          <p:cNvSpPr/>
          <p:nvPr/>
        </p:nvSpPr>
        <p:spPr>
          <a:xfrm>
            <a:off x="616585" y="3550920"/>
            <a:ext cx="3047365" cy="3321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Frequency–Value Correlation</a:t>
            </a:r>
            <a:endParaRPr lang="en-US" sz="12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6585" y="3962400"/>
            <a:ext cx="5733415" cy="5956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who purchased more frequently also spent more per transaction — a positive correlation between frequency and monetary value.</a:t>
            </a:r>
            <a:endParaRPr lang="en-US" sz="12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4050"/>
            <a:ext cx="4479578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Category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0555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category analysis reveals where revenue is concentrated and how customers purchase.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66838"/>
            <a:ext cx="1507480" cy="931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075682"/>
            <a:ext cx="251988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Laptops Lead Revenue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382194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Laptops generated the highest category revenue, reflecting strong demand for high-ticket electronics.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966838"/>
            <a:ext cx="1507480" cy="931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075682"/>
            <a:ext cx="24327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Mobile Devices Follow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382194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Smartphones and tablets also performed well, contributing meaningful secondary revenue streams.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966838"/>
            <a:ext cx="1507480" cy="9316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075682"/>
            <a:ext cx="209073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Small Basket Sizes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382194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orders contained 1–3 units, suggesting customers favor targeted, single-item purchases over bulk buying.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135" y="249555"/>
            <a:ext cx="2727960" cy="588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EDA Findings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822" y="686098"/>
            <a:ext cx="4143449" cy="41434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" y="1092835"/>
            <a:ext cx="4143375" cy="38398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87491" y="1861612"/>
            <a:ext cx="2188964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the Data Revealed</a:t>
            </a:r>
            <a:endParaRPr lang="en-US" sz="12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687491" y="2049572"/>
            <a:ext cx="4143449" cy="23827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Exploratory analysis surfaced three notable patterns that inform both business strategy and data quality decisions.</a:t>
            </a:r>
            <a:endParaRPr lang="en-US" sz="12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687570" y="2493010"/>
            <a:ext cx="4143375" cy="705485"/>
          </a:xfrm>
          <a:prstGeom prst="roundRect">
            <a:avLst>
              <a:gd name="adj" fmla="val 9152"/>
            </a:avLst>
          </a:prstGeom>
          <a:solidFill>
            <a:srgbClr val="B6D6FC"/>
          </a:solidFill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276" y="2776835"/>
            <a:ext cx="113481" cy="907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82845" y="2594610"/>
            <a:ext cx="3757930" cy="376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1,842 outlier transactions were flagged — these may represent bulk orders, returns, or data entry errors and should be reviewed before modeling.</a:t>
            </a:r>
            <a:endParaRPr lang="en-US" sz="1200" b="1" dirty="0">
              <a:solidFill>
                <a:srgbClr val="00000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687491" y="3278054"/>
            <a:ext cx="4143449" cy="23827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midnight shopping peak suggests mobile or after-hours browsing behavior worth exploring in future segmentation work.</a:t>
            </a:r>
            <a:endParaRPr lang="en-US" sz="12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4223"/>
            <a:ext cx="5348883" cy="3765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Machine Learning Results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2541905" y="1472565"/>
            <a:ext cx="4543425" cy="376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Arial Black" panose="020B0A04020102020204" charset="0"/>
                <a:ea typeface="Unbounded Bold" pitchFamily="34" charset="-122"/>
                <a:cs typeface="Arial Black" panose="020B0A04020102020204" charset="0"/>
              </a:rPr>
              <a:t>Random Forest Churn Model</a:t>
            </a:r>
            <a:endParaRPr lang="en-US" sz="2000" b="1" dirty="0">
              <a:solidFill>
                <a:srgbClr val="333F70"/>
              </a:solidFill>
              <a:latin typeface="Arial Black" panose="020B0A04020102020204" charset="0"/>
              <a:ea typeface="Unbounded Bold" pitchFamily="34" charset="-122"/>
              <a:cs typeface="Arial Black" panose="020B0A04020102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83439" y="1951415"/>
            <a:ext cx="2662014" cy="5348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Arial Black" panose="020B0A04020102020204" charset="0"/>
                <a:ea typeface="Open Sans" pitchFamily="34" charset="-122"/>
                <a:cs typeface="Arial Black" panose="020B0A04020102020204" charset="0"/>
              </a:rPr>
              <a:t>A Random Forest classifier was trained to predict customer churn using RFM features and transactional signals.</a:t>
            </a:r>
            <a:endParaRPr lang="en-US" sz="1200" b="1" dirty="0">
              <a:solidFill>
                <a:srgbClr val="333F70"/>
              </a:solidFill>
              <a:latin typeface="Arial Black" panose="020B0A04020102020204" charset="0"/>
              <a:ea typeface="Open Sans" pitchFamily="34" charset="-122"/>
              <a:cs typeface="Arial Black" panose="020B0A0402010202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95935" y="3289300"/>
            <a:ext cx="2649220" cy="1194435"/>
          </a:xfrm>
          <a:prstGeom prst="roundRect">
            <a:avLst>
              <a:gd name="adj" fmla="val 590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665" y="3415030"/>
            <a:ext cx="1506220" cy="2616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Algorithm</a:t>
            </a:r>
            <a:endParaRPr lang="en-US" sz="14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1665" y="3664585"/>
            <a:ext cx="2398395" cy="4972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 — robust to class imbalance and feature interactions</a:t>
            </a:r>
            <a:endParaRPr lang="en-US" sz="14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47390" y="3289300"/>
            <a:ext cx="2649220" cy="1194435"/>
          </a:xfrm>
          <a:prstGeom prst="roundRect">
            <a:avLst>
              <a:gd name="adj" fmla="val 590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72485" y="3415030"/>
            <a:ext cx="1506220" cy="2616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Accuracy</a:t>
            </a:r>
            <a:endParaRPr lang="en-US" sz="14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372485" y="3664585"/>
            <a:ext cx="2398395" cy="4972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Very high accuracy achieved on the held-out test set</a:t>
            </a:r>
            <a:endParaRPr lang="en-US" sz="14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998845" y="3289300"/>
            <a:ext cx="2649220" cy="1194435"/>
          </a:xfrm>
          <a:prstGeom prst="roundRect">
            <a:avLst>
              <a:gd name="adj" fmla="val 590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3940" y="3415030"/>
            <a:ext cx="1656715" cy="2616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Confusion Matrix</a:t>
            </a:r>
            <a:endParaRPr lang="en-US" sz="14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23940" y="3664585"/>
            <a:ext cx="2398395" cy="4972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precision and recall across both churn and non-churn classes</a:t>
            </a:r>
            <a:endParaRPr lang="en-US" sz="14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08384" y="1374487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Interactive Dashboard Project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5935" y="2667635"/>
            <a:ext cx="7947660" cy="9074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comprehensive analytics solution built in Tableau / Power BI to monitor business performance, analyze product trends, and validate strategic decisions through A/B testing — all in one interactive environment.</a:t>
            </a:r>
            <a:endParaRPr lang="en-US" sz="14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9822"/>
            <a:ext cx="958528" cy="182761"/>
          </a:xfrm>
          <a:prstGeom prst="roundRect">
            <a:avLst>
              <a:gd name="adj" fmla="val 19548"/>
            </a:avLst>
          </a:prstGeom>
          <a:solidFill>
            <a:srgbClr val="D6F5EE"/>
          </a:solidFill>
        </p:spPr>
      </p:sp>
      <p:sp>
        <p:nvSpPr>
          <p:cNvPr id="3" name="Text 1"/>
          <p:cNvSpPr/>
          <p:nvPr/>
        </p:nvSpPr>
        <p:spPr>
          <a:xfrm>
            <a:off x="559891" y="511671"/>
            <a:ext cx="1288182" cy="1190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OVERVIEW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94432"/>
            <a:ext cx="6222281" cy="3322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Business Performance at a Glance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96119" y="1146274"/>
            <a:ext cx="8608963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grew steadily throughout the year, peaking in December. The Laptop category led all product segments.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7484" y="1437903"/>
            <a:ext cx="1988046" cy="280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7.06M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56990" y="1831479"/>
            <a:ext cx="1329035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2045345"/>
            <a:ext cx="2650778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overall business growth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77903" y="1437903"/>
            <a:ext cx="1988121" cy="3508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5K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3907408" y="1901651"/>
            <a:ext cx="1329035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537" y="2115517"/>
            <a:ext cx="2650852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Orders during the analysis period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28395" y="1437903"/>
            <a:ext cx="1988121" cy="280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2.50K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41678" y="1831479"/>
            <a:ext cx="1361554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Avg. Order Value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97029" y="2045345"/>
            <a:ext cx="2650852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Healthy per-transaction spending</a:t>
            </a:r>
            <a:endParaRPr lang="en-US" sz="8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443683"/>
            <a:ext cx="2959596" cy="21303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706466" y="2433712"/>
            <a:ext cx="2402086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Monthly Revenue Trend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06466" y="2679502"/>
            <a:ext cx="3946178" cy="297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climbed steadily month-over-month, with the strongest performance in December. Laptops dominated category revenue.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80244" y="220494"/>
            <a:ext cx="985689" cy="198611"/>
          </a:xfrm>
          <a:prstGeom prst="roundRect">
            <a:avLst>
              <a:gd name="adj" fmla="val 19187"/>
            </a:avLst>
          </a:prstGeom>
          <a:solidFill>
            <a:srgbClr val="D6F5EE"/>
          </a:solidFill>
        </p:spPr>
      </p:sp>
      <p:sp>
        <p:nvSpPr>
          <p:cNvPr id="4" name="Text 1"/>
          <p:cNvSpPr/>
          <p:nvPr/>
        </p:nvSpPr>
        <p:spPr>
          <a:xfrm>
            <a:off x="531113" y="242436"/>
            <a:ext cx="1306860" cy="1305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ANALYSIS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12934" y="614095"/>
            <a:ext cx="4722763" cy="70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Understanding Customer Behavior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2750" y="1261745"/>
            <a:ext cx="4722495" cy="6292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Retention, engagement, and funnel metrics reveal a loyal, growing customer base — with VIP segments driving outsized value.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2934" y="1981374"/>
            <a:ext cx="4722763" cy="631180"/>
          </a:xfrm>
          <a:prstGeom prst="roundRect">
            <a:avLst>
              <a:gd name="adj" fmla="val 754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1103" y="2099543"/>
            <a:ext cx="2062981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45.26% Retention Rate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1103" y="2331120"/>
            <a:ext cx="4486424" cy="163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Nearly half of customers returned for repeat purchases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12934" y="2703264"/>
            <a:ext cx="4722763" cy="631180"/>
          </a:xfrm>
          <a:prstGeom prst="roundRect">
            <a:avLst>
              <a:gd name="adj" fmla="val 754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1103" y="2821434"/>
            <a:ext cx="2187253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~50% Funnel Conversion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31103" y="3053011"/>
            <a:ext cx="4486424" cy="163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conversion from browsing to completed purchase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2934" y="3425155"/>
            <a:ext cx="4722763" cy="631180"/>
          </a:xfrm>
          <a:prstGeom prst="roundRect">
            <a:avLst>
              <a:gd name="adj" fmla="val 754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1103" y="3543325"/>
            <a:ext cx="1742331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VIP Customer Value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1103" y="3774901"/>
            <a:ext cx="4486424" cy="163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VIP segment delivered the highest average order value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12934" y="4147046"/>
            <a:ext cx="4722763" cy="631180"/>
          </a:xfrm>
          <a:prstGeom prst="roundRect">
            <a:avLst>
              <a:gd name="adj" fmla="val 754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1103" y="4265216"/>
            <a:ext cx="1417662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MAU Growth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31103" y="4496792"/>
            <a:ext cx="4486424" cy="163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active users climbed significantly toward year-end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40680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Takeaways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5935" y="1096010"/>
            <a:ext cx="7592695" cy="5765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delivers a unified analytics platform — turning raw data into clear, interactive insights that drive smarter decisions.</a:t>
            </a:r>
            <a:endParaRPr lang="en-US" sz="140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09365"/>
            <a:ext cx="283518" cy="2835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6816" y="1758032"/>
            <a:ext cx="3567112" cy="2214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Interactive Business Monitoring</a:t>
            </a:r>
            <a:endParaRPr lang="en-US" sz="14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7" name="Text 3"/>
          <p:cNvSpPr/>
          <p:nvPr/>
        </p:nvSpPr>
        <p:spPr>
          <a:xfrm>
            <a:off x="956945" y="2064385"/>
            <a:ext cx="5958205" cy="4533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KPIs enable efficient performance tracking across revenue, orders, and categories.</a:t>
            </a:r>
            <a:endParaRPr lang="en-US" sz="140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01689"/>
            <a:ext cx="283518" cy="2835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6816" y="2850356"/>
            <a:ext cx="3665786" cy="2214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Deeper Customer Understanding</a:t>
            </a:r>
            <a:endParaRPr lang="en-US" sz="14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956945" y="3156585"/>
            <a:ext cx="5993765" cy="4533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analytics revealed retention patterns, VIP value, and funnel behavior to guide engagement strategy.</a:t>
            </a:r>
            <a:endParaRPr lang="en-US" sz="140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894013"/>
            <a:ext cx="283518" cy="2835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6816" y="3942680"/>
            <a:ext cx="2837631" cy="2214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Evidence-Based Strategy</a:t>
            </a:r>
            <a:endParaRPr lang="en-US" sz="14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956945" y="4249420"/>
            <a:ext cx="5773420" cy="4533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A/B testing identified the higher-performing variant, reducing guesswork in product decisions.</a:t>
            </a:r>
            <a:endParaRPr lang="en-US" sz="140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Simple Data Pipeline using dbt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· dbt · Power BI — End-to-End Data Engineering Project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526465"/>
            <a:ext cx="4273302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Objective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5935" y="1129030"/>
            <a:ext cx="8201025" cy="680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demonstrates a complete modern data pipeline — from raw transaction data to business-ready insights — using SQL, dbt, and Power BI.</a:t>
            </a:r>
            <a:endParaRPr lang="en-US" sz="1200" b="1" dirty="0"/>
          </a:p>
        </p:txBody>
      </p:sp>
      <p:sp>
        <p:nvSpPr>
          <p:cNvPr id="5" name="Shape 2"/>
          <p:cNvSpPr/>
          <p:nvPr/>
        </p:nvSpPr>
        <p:spPr>
          <a:xfrm>
            <a:off x="567055" y="1969135"/>
            <a:ext cx="2855595" cy="1506855"/>
          </a:xfrm>
          <a:prstGeom prst="roundRect">
            <a:avLst>
              <a:gd name="adj" fmla="val 395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2115145"/>
            <a:ext cx="186727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Build the Pipeline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421657"/>
            <a:ext cx="199742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Construct a dbt-based transformation layer with staging, intermediate, and mart models</a:t>
            </a:r>
            <a:endParaRPr lang="en-US" sz="1100" b="1" dirty="0"/>
          </a:p>
        </p:txBody>
      </p:sp>
      <p:sp>
        <p:nvSpPr>
          <p:cNvPr id="8" name="Shape 5"/>
          <p:cNvSpPr/>
          <p:nvPr/>
        </p:nvSpPr>
        <p:spPr>
          <a:xfrm>
            <a:off x="3966210" y="1976120"/>
            <a:ext cx="2839720" cy="1506855"/>
          </a:xfrm>
          <a:prstGeom prst="roundRect">
            <a:avLst>
              <a:gd name="adj" fmla="val 395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3088" y="2115145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Ensure Quality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3088" y="2480712"/>
            <a:ext cx="199749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data quality tests to guarantee accuracy and consistency across all models</a:t>
            </a:r>
            <a:endParaRPr lang="en-US" sz="1100" b="1" dirty="0"/>
          </a:p>
        </p:txBody>
      </p:sp>
      <p:sp>
        <p:nvSpPr>
          <p:cNvPr id="11" name="Shape 8"/>
          <p:cNvSpPr/>
          <p:nvPr/>
        </p:nvSpPr>
        <p:spPr>
          <a:xfrm>
            <a:off x="567055" y="3649345"/>
            <a:ext cx="6249035" cy="1053465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3763714"/>
            <a:ext cx="195210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Visualize Insights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20" y="4070350"/>
            <a:ext cx="5932805" cy="4533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 a Power BI dashboard with monthly revenue trends and KPI tracking</a:t>
            </a:r>
            <a:endParaRPr lang="en-US" sz="11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9369" y="739998"/>
            <a:ext cx="662843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dbt Models Implementation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901700" y="1522730"/>
            <a:ext cx="6825615" cy="826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layered models transform raw data into analytics-ready tables 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96119" y="2348855"/>
            <a:ext cx="259913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stg_orders.sql — Staging Layer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904128"/>
            <a:ext cx="2599134" cy="14600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Cleaned and standardized raw transaction records</a:t>
            </a:r>
            <a:endParaRPr lang="en-US" sz="1200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Normalized order dates and removed invalid entries</a:t>
            </a:r>
            <a:endParaRPr lang="en-US" sz="1200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Derived a calculated </a:t>
            </a:r>
            <a:r>
              <a:rPr lang="en-US" sz="1200" b="1" dirty="0">
                <a:solidFill>
                  <a:srgbClr val="333F70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revenue</a:t>
            </a: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column</a:t>
            </a:r>
            <a:endParaRPr lang="en-US" sz="1200" b="1" dirty="0"/>
          </a:p>
        </p:txBody>
      </p:sp>
      <p:sp>
        <p:nvSpPr>
          <p:cNvPr id="8" name="Text 4"/>
          <p:cNvSpPr/>
          <p:nvPr/>
        </p:nvSpPr>
        <p:spPr>
          <a:xfrm>
            <a:off x="3171468" y="2239635"/>
            <a:ext cx="2599134" cy="6643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int_customer_metrics.sql — Intermediate Layer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3068" y="2903969"/>
            <a:ext cx="2599134" cy="7300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Aggregated customer-level metrics</a:t>
            </a:r>
            <a:endParaRPr lang="en-US" sz="1200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Computed total spend and total orders per customer</a:t>
            </a:r>
            <a:endParaRPr lang="en-US" sz="12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048747" y="2245350"/>
            <a:ext cx="259913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mart_monthly_revenue.sql — Mart Layer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50017" y="2904128"/>
            <a:ext cx="2599134" cy="9568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monthly revenue summaries</a:t>
            </a:r>
            <a:endParaRPr lang="en-US" sz="1200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Calculated month-on-month comparison metrics</a:t>
            </a:r>
            <a:endParaRPr lang="en-US" sz="12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822" y="249734"/>
            <a:ext cx="3105671" cy="283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Quality Tests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17822" y="1917333"/>
            <a:ext cx="1962894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ea typeface="Unbounded Bold" pitchFamily="34" charset="-122"/>
                <a:cs typeface="+mn-lt"/>
              </a:rPr>
              <a:t>Why Testing Matters</a:t>
            </a:r>
            <a:endParaRPr lang="en-US" sz="1400" b="1" dirty="0">
              <a:solidFill>
                <a:srgbClr val="333F70"/>
              </a:solidFill>
              <a:ea typeface="Unbounded Bold" pitchFamily="34" charset="-122"/>
              <a:cs typeface="+mn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7822" y="2255788"/>
            <a:ext cx="4143449" cy="23827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ea typeface="Open Sans" pitchFamily="34" charset="-122"/>
                <a:cs typeface="+mn-lt"/>
              </a:rPr>
              <a:t>dbt's built-in testing framework validates data at every layer, catching issues before they reach the dashboard. Tests are defined directly in YAML schema files alongside model definitions.</a:t>
            </a:r>
            <a:endParaRPr lang="en-US" sz="1400" b="1" dirty="0">
              <a:solidFill>
                <a:srgbClr val="333F70"/>
              </a:solidFill>
              <a:ea typeface="Open Sans" pitchFamily="34" charset="-122"/>
              <a:cs typeface="+mn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33680" y="3307080"/>
            <a:ext cx="4143375" cy="576580"/>
          </a:xfrm>
          <a:prstGeom prst="roundRect">
            <a:avLst>
              <a:gd name="adj" fmla="val 9152"/>
            </a:avLst>
          </a:prstGeom>
          <a:solidFill>
            <a:srgbClr val="B6D6F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608" y="2922091"/>
            <a:ext cx="113481" cy="907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8404" y="3357835"/>
            <a:ext cx="3757613" cy="23827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ea typeface="Open Sans" pitchFamily="34" charset="-122"/>
                <a:cs typeface="+mn-lt"/>
              </a:rPr>
              <a:t>All tests run automatically during </a:t>
            </a:r>
            <a:r>
              <a:rPr lang="en-US" sz="1400" b="1" dirty="0">
                <a:solidFill>
                  <a:srgbClr val="000000"/>
                </a:solidFill>
                <a:highlight>
                  <a:srgbClr val="F2F2F2"/>
                </a:highlight>
                <a:ea typeface="Consolas" panose="020B0609020204030204" pitchFamily="34" charset="-122"/>
                <a:cs typeface="+mn-lt"/>
              </a:rPr>
              <a:t>dbt build</a:t>
            </a:r>
            <a:r>
              <a:rPr lang="en-US" sz="1400" b="1" dirty="0">
                <a:solidFill>
                  <a:srgbClr val="000000"/>
                </a:solidFill>
                <a:ea typeface="Open Sans" pitchFamily="34" charset="-122"/>
                <a:cs typeface="+mn-lt"/>
              </a:rPr>
              <a:t>, blocking bad data from propagating downstream.</a:t>
            </a:r>
            <a:endParaRPr lang="en-US" sz="1400" b="1" dirty="0">
              <a:solidFill>
                <a:srgbClr val="000000"/>
              </a:solidFill>
              <a:ea typeface="Open Sans" pitchFamily="34" charset="-122"/>
              <a:cs typeface="+mn-lt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491" y="686098"/>
            <a:ext cx="4143449" cy="4143449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491" y="686098"/>
            <a:ext cx="4143449" cy="41434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453"/>
            <a:ext cx="6166321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Dashboard &amp; Key Insights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54" y="124651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215333"/>
            <a:ext cx="436014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Illustrative trend — replace with actual project data.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1228799"/>
            <a:ext cx="276619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Dashboard Features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49701" y="1592014"/>
            <a:ext cx="3902943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revenue trend analysis with visual charts</a:t>
            </a:r>
            <a:endParaRPr lang="en-US" sz="1100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month vs. prior month comparison</a:t>
            </a:r>
            <a:endParaRPr lang="en-US" sz="1100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change KPI tracking</a:t>
            </a:r>
            <a:endParaRPr lang="en-US" sz="1100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orders breakdown</a:t>
            </a:r>
            <a:endParaRPr lang="en-US" sz="1100" b="1" dirty="0"/>
          </a:p>
        </p:txBody>
      </p:sp>
      <p:sp>
        <p:nvSpPr>
          <p:cNvPr id="7" name="Text 4"/>
          <p:cNvSpPr/>
          <p:nvPr/>
        </p:nvSpPr>
        <p:spPr>
          <a:xfrm>
            <a:off x="4749701" y="2789709"/>
            <a:ext cx="22292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49701" y="3152924"/>
            <a:ext cx="3902943" cy="15095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showed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growth toward year-end</a:t>
            </a:r>
            <a:endParaRPr lang="en-US" sz="1100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December 2023 recorded the highest monthly revenue</a:t>
            </a:r>
            <a:endParaRPr lang="en-US" sz="1100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Positive month-on-month growth confirmed across all periods</a:t>
            </a:r>
            <a:endParaRPr lang="en-US" sz="1100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enables rapid identification of sales performance trends</a:t>
            </a:r>
            <a:endParaRPr lang="en-US" sz="11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11555</Words>
  <Application>WPS Presentation</Application>
  <PresentationFormat>On-screen Show (16:9)</PresentationFormat>
  <Paragraphs>458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4" baseType="lpstr">
      <vt:lpstr>Arial</vt:lpstr>
      <vt:lpstr>SimSun</vt:lpstr>
      <vt:lpstr>Wingdings</vt:lpstr>
      <vt:lpstr>Unbounded Bold</vt:lpstr>
      <vt:lpstr>Unbounded Bold</vt:lpstr>
      <vt:lpstr>Unbounded Bold</vt:lpstr>
      <vt:lpstr>Open Sans</vt:lpstr>
      <vt:lpstr>Open Sans</vt:lpstr>
      <vt:lpstr>Open Sans</vt:lpstr>
      <vt:lpstr>Calibri</vt:lpstr>
      <vt:lpstr>Microsoft YaHei</vt:lpstr>
      <vt:lpstr>Arial Unicode MS</vt:lpstr>
      <vt:lpstr>Arial Black</vt:lpstr>
      <vt:lpstr>Consolas</vt:lpstr>
      <vt:lpstr>Consolas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 Gour</cp:lastModifiedBy>
  <cp:revision>12</cp:revision>
  <dcterms:created xsi:type="dcterms:W3CDTF">2026-05-23T19:08:00Z</dcterms:created>
  <dcterms:modified xsi:type="dcterms:W3CDTF">2026-06-05T06:46:19Z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7030C20BA4024249A5A0BF57B73D2F7E_12</vt:lpwstr>
  </property>
  <property fmtid="{D5CDD505-2E9C-101B-9397-08002B2CF9AE}" pid="3" name="KSOProductBuildVer">
    <vt:lpwstr>1033-12.1.0.26372</vt:lpwstr>
  </property>
</Properties>
</file>